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6301"/>
  </p:normalViewPr>
  <p:slideViewPr>
    <p:cSldViewPr snapToGrid="0" snapToObjects="1">
      <p:cViewPr varScale="1">
        <p:scale>
          <a:sx n="108" d="100"/>
          <a:sy n="108" d="100"/>
        </p:scale>
        <p:origin x="76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212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2145975" y="0"/>
            <a:ext cx="45720" cy="685800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631375" y="4572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9859975" y="4572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0088575" y="4572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0317175" y="4572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0545775" y="4572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0774375" y="4572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9631375" y="48006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859975" y="48006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0088575" y="48006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10317175" y="48006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10545775" y="48006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10774375" y="48006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9631375" y="50292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859975" y="50292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10088575" y="50292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0317175" y="50292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545775" y="50292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0774375" y="50292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9631375" y="52578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859975" y="52578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0088575" y="52578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0317175" y="52578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10545775" y="52578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10774375" y="52578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9631375" y="54864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9859975" y="54864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10088575" y="54864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10317175" y="54864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10545775" y="54864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10774375" y="54864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9631375" y="5715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9859975" y="5715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10088575" y="5715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Shape 35"/>
          <p:cNvSpPr/>
          <p:nvPr/>
        </p:nvSpPr>
        <p:spPr>
          <a:xfrm>
            <a:off x="10317175" y="5715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10545775" y="5715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10774375" y="5715000"/>
            <a:ext cx="54864" cy="54864"/>
          </a:xfrm>
          <a:prstGeom prst="ellipse">
            <a:avLst/>
          </a:prstGeom>
          <a:solidFill>
            <a:srgbClr val="D4A857">
              <a:alpha val="40000"/>
            </a:srgbClr>
          </a:solidFill>
          <a:ln w="12700">
            <a:solidFill>
              <a:srgbClr val="D4A8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LIFE INSURANCE · EQUITY DASHBOARD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</a:t>
            </a:r>
            <a:endParaRPr lang="en-US" sz="4800" dirty="0"/>
          </a:p>
        </p:txBody>
      </p:sp>
      <p:sp>
        <p:nvSpPr>
          <p:cNvPr id="42" name="Text 40"/>
          <p:cNvSpPr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一頁式個股儀表板</a:t>
            </a:r>
            <a:endParaRPr lang="en-US" sz="5200" dirty="0"/>
          </a:p>
        </p:txBody>
      </p:sp>
      <p:sp>
        <p:nvSpPr>
          <p:cNvPr id="43" name="Shape 41"/>
          <p:cNvSpPr/>
          <p:nvPr/>
        </p:nvSpPr>
        <p:spPr>
          <a:xfrm>
            <a:off x="914400" y="4160520"/>
            <a:ext cx="1097280" cy="36576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為長期投資決策量身打造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Designed for Long-horizon Institutional Decisions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量化研究組   ·   2026 Q2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S2 ·  THE WHY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現狀痛點：壽險不是散戶，不該用散戶工具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18008" y="160020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18008" y="1600200"/>
            <a:ext cx="73152" cy="292608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838048" y="1920240"/>
            <a:ext cx="868680" cy="868680"/>
          </a:xfrm>
          <a:prstGeom prst="ellipse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38048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2328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分析師時間被切碎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92328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分析同一家公司，要跨多張 Excel、多套 Bloomberg / MoneyDJ 畫面才能拼湊全貌。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12768" y="160020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312768" y="1600200"/>
            <a:ext cx="73152" cy="292608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4632808" y="1920240"/>
            <a:ext cx="868680" cy="868680"/>
          </a:xfrm>
          <a:prstGeom prst="ellipse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632808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87088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市面工具面向散戶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87088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現有 dashboard 面向當沖 / 技術派，對壽險長線視角與資本思維不適配。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7528" y="160020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107528" y="1600200"/>
            <a:ext cx="73152" cy="292608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8427568" y="1920240"/>
            <a:ext cx="868680" cy="868680"/>
          </a:xfrm>
          <a:prstGeom prst="ellipse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8427568" y="1920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381848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三位一體資訊缺口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81848" y="3383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信用品質 × 股利永續 × 治理風險，沒有單一介面能快速掃描並落地判斷。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11094415" cy="91440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109728" cy="91440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868680" y="498348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壽險不是散戶，不該用散戶工具。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 ·  CORE LOGIC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壽險投資的五大決策特性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48640" y="1692692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1692692"/>
            <a:ext cx="914400" cy="749808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48640" y="1692692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169269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長期持有</a:t>
            </a: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保單 20–30 年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9852"/>
            <a:ext cx="182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692692"/>
            <a:ext cx="5425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5 年 CAGR、年度視角；不陷入季度噪音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533940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2533940"/>
            <a:ext cx="914400" cy="749808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5339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253394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穩定股利</a:t>
            </a: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保單現金流需求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35040" y="2671100"/>
            <a:ext cx="182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2533940"/>
            <a:ext cx="5425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看 FCF 覆蓋，不只看帳面 EPS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375188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3375188"/>
            <a:ext cx="914400" cy="749808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375188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45920" y="337518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信用品質</a:t>
            </a: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債券思維延伸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035040" y="3512348"/>
            <a:ext cx="182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217920" y="3375188"/>
            <a:ext cx="5425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ROE / ROA / 負債比 / 利息保障倍數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216436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548640" y="4216436"/>
            <a:ext cx="914400" cy="749808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216436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645920" y="42164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監管資本</a:t>
            </a: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IFRS17 / ICS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035040" y="4353596"/>
            <a:ext cx="182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217920" y="4216436"/>
            <a:ext cx="5425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Beta、年化波動度 → 直接連結資本計提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057684"/>
            <a:ext cx="1109441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548640" y="5057684"/>
            <a:ext cx="914400" cy="749808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548640" y="5057684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645920" y="505768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治理風險</a:t>
            </a: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長期黑天鵝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035040" y="5194844"/>
            <a:ext cx="18288" cy="4754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6217920" y="5057684"/>
            <a:ext cx="54251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 內部人設質比、大股東持股變動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S4 ·  BLUEPRINT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報表結構鳥瞰｜14 區塊・5 大群組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= 本次新增／強化（共 5 區）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5964" y="1828800"/>
            <a:ext cx="2240280" cy="77724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65964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公司身分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5964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5964" y="2651760"/>
            <a:ext cx="2240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48844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公司概要 + 估值卡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70836" y="1828800"/>
            <a:ext cx="2240280" cy="777240"/>
          </a:xfrm>
          <a:prstGeom prst="rect">
            <a:avLst/>
          </a:prstGeom>
          <a:solidFill>
            <a:srgbClr val="2E6A8E"/>
          </a:solidFill>
          <a:ln w="12700">
            <a:solidFill>
              <a:srgbClr val="2E6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570836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獲利與品質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70836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70836" y="2651760"/>
            <a:ext cx="2240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2753716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估值趨勢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53716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</a:t>
            </a:r>
            <a:r>
              <a:rPr lang="en-US" altLang="zh-TW" sz="1300" dirty="0" err="1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歷年</a:t>
            </a:r>
            <a:r>
              <a:rPr lang="en-US" sz="1300" dirty="0" err="1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53716" y="36027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月營收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53716" y="39867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季度損益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53716" y="43708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財務比率儀表板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53716" y="47548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現金流摘要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75708" y="1828800"/>
            <a:ext cx="2240280" cy="777240"/>
          </a:xfrm>
          <a:prstGeom prst="rect">
            <a:avLst/>
          </a:prstGeom>
          <a:solidFill>
            <a:srgbClr val="7A5B2F"/>
          </a:solidFill>
          <a:ln w="12700">
            <a:solidFill>
              <a:srgbClr val="7A5B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975708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長期視角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7570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75708" y="2651760"/>
            <a:ext cx="2240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158588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5 年長期趨勢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80580" y="1828800"/>
            <a:ext cx="2240280" cy="777240"/>
          </a:xfrm>
          <a:prstGeom prst="rect">
            <a:avLst/>
          </a:prstGeom>
          <a:solidFill>
            <a:srgbClr val="8B2E2E"/>
          </a:solidFill>
          <a:ln w="12700">
            <a:solidFill>
              <a:srgbClr val="8B2E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738058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風險與治理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8058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80580" y="2651760"/>
            <a:ext cx="2240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7563460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三大法人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63460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股權分散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63460" y="36027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公司治理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63460" y="398678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風險與技術面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785452" y="1828800"/>
            <a:ext cx="2240280" cy="777240"/>
          </a:xfrm>
          <a:prstGeom prst="rect">
            <a:avLst/>
          </a:prstGeom>
          <a:solidFill>
            <a:srgbClr val="3A5A40"/>
          </a:solidFill>
          <a:ln w="12700">
            <a:solidFill>
              <a:srgbClr val="3A5A4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9785452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市場脈絡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785452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區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785452" y="2651760"/>
            <a:ext cx="22402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9968332" y="2834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K 線圖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968332" y="32186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 策略績效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548640" y="58978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</a:t>
            </a: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個既有區塊    ＋    </a:t>
            </a:r>
            <a:r>
              <a:rPr lang="en-US" sz="22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</a:t>
            </a: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個新增區塊，全部對齊壽險五大特性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7EE8FF8-9EE7-A5C7-4F13-35AD5DE1973B}"/>
              </a:ext>
            </a:extLst>
          </p:cNvPr>
          <p:cNvSpPr txBox="1"/>
          <p:nvPr/>
        </p:nvSpPr>
        <p:spPr>
          <a:xfrm>
            <a:off x="973777" y="760021"/>
            <a:ext cx="9060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1. P1 </a:t>
            </a:r>
            <a:r>
              <a:rPr kumimoji="1" lang="zh-TW" altLang="en-US" dirty="0"/>
              <a:t>勾勾表、</a:t>
            </a:r>
            <a:r>
              <a:rPr kumimoji="1" lang="en-US" altLang="zh-TW" dirty="0"/>
              <a:t>K</a:t>
            </a:r>
            <a:r>
              <a:rPr kumimoji="1" lang="zh-TW" altLang="en-US" dirty="0"/>
              <a:t>線</a:t>
            </a:r>
            <a:endParaRPr kumimoji="1" lang="en-US" altLang="zh-TW" dirty="0"/>
          </a:p>
          <a:p>
            <a:r>
              <a:rPr kumimoji="1" lang="en-US" altLang="zh-TW" dirty="0"/>
              <a:t>2. P2 </a:t>
            </a:r>
            <a:r>
              <a:rPr kumimoji="1" lang="zh-TW" altLang="en-US" dirty="0"/>
              <a:t>策略表、策略後面的想法</a:t>
            </a:r>
            <a:endParaRPr kumimoji="1" lang="en-US" altLang="zh-TW" dirty="0"/>
          </a:p>
          <a:p>
            <a:r>
              <a:rPr kumimoji="1" lang="en-US" altLang="zh-TW" dirty="0"/>
              <a:t>3. </a:t>
            </a:r>
            <a:r>
              <a:rPr kumimoji="1" lang="zh-TW" altLang="en-US" dirty="0"/>
              <a:t>附錄：基本</a:t>
            </a:r>
            <a:r>
              <a:rPr kumimoji="1" lang="zh-TW" altLang="en-US"/>
              <a:t>資訊等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224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S5 ·  THE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新增五大區塊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新區塊 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對應壽險特性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1463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回答的決策問題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084832"/>
            <a:ext cx="110944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548640" y="2084832"/>
            <a:ext cx="91440" cy="80467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31520" y="2084832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現金流摘要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20440" y="2249424"/>
            <a:ext cx="192024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520440" y="22494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穩定股利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0" y="20848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「這家公司的股利，是賺出來的、還是借出來的？」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962656"/>
            <a:ext cx="110944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2962656"/>
            <a:ext cx="91440" cy="80467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31520" y="296265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財務比率儀表板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20440" y="3127248"/>
            <a:ext cx="192024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520440" y="31272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信用品質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2962656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「ROE、負債比、流動比、利息保障、FCF 股利覆蓋，能否一眼掃完？」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110944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91440" cy="80467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31520" y="38404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風險與技術面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520440" y="4005072"/>
            <a:ext cx="192024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520440" y="40050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監管資本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52160" y="384048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「Beta 與年化波動度，能否直接餵給 IFRS17 資本計提？」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4718304"/>
            <a:ext cx="110944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548640" y="4718304"/>
            <a:ext cx="91440" cy="80467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731520" y="4718304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公司治理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20440" y="4882896"/>
            <a:ext cx="192024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3520440" y="48828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治理風險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4718304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「大股東設質比是不是紅旗？董監是否異常出脫？」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5596128"/>
            <a:ext cx="11094415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548640" y="5596128"/>
            <a:ext cx="91440" cy="80467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731520" y="55961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  5 年長期趨勢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520440" y="5760720"/>
            <a:ext cx="192024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3520440" y="5760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長期持有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852160" y="559612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「過去五年營收 / EPS / 股利 / 權益，複合成長多少？」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S6 ·  METHOD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設計重點 ①　方法論上的嚴謹：踩過的坑、修掉的方式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95148" y="1554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815188" y="1920240"/>
            <a:ext cx="731520" cy="731520"/>
          </a:xfrm>
          <a:prstGeom prst="ellipse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1518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83868" y="1874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FCF 用 API 官方欄位、不自己推導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83868" y="2423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OCF + 投資活動現金流 ≠ 自由現金流。IFRS 把購買金融資產算在投資活動；2330 抽樣曾差到 100M+。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0148" y="15544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530188" y="1920240"/>
            <a:ext cx="731520" cy="731520"/>
          </a:xfrm>
          <a:prstGeom prst="ellipse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530188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98868" y="1874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股利季→年聚合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98868" y="2423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原本「近 10 年」標題下放 10 季資料（≈ 2.5 年）；已修正為真正年度聚合。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5148" y="38862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15188" y="4251960"/>
            <a:ext cx="731520" cy="731520"/>
          </a:xfrm>
          <a:prstGeom prst="ellipse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15188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83868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方案 B：未結年度不推估發放率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683868" y="47548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 發放率顯示「—」而非用半年 EPS 推全年。寧可空白，也不要誤導。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0148" y="388620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530188" y="4251960"/>
            <a:ext cx="731520" cy="731520"/>
          </a:xfrm>
          <a:prstGeom prst="ellipse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530188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98868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欄位名 Unicode 安全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398868" y="47548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「母公司業主–稅後純益」中是全形 en dash（U+2013），用常數集中管理，避免肉眼錯字。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8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精神：寧可留空白，也不要產生假訊號。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S7 ·  SIGNAL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設計重點 ②　警示色語言：把「讀表」轉成「看紅點」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48640" y="1554480"/>
            <a:ext cx="6949440" cy="530352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77240" y="1554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55448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警示門檻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130552"/>
            <a:ext cx="6949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2130552"/>
            <a:ext cx="73152" cy="53035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77240" y="21305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21305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50%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706624"/>
            <a:ext cx="6949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2706624"/>
            <a:ext cx="73152" cy="53035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77240" y="270662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27066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1x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282696"/>
            <a:ext cx="6949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48640" y="3282696"/>
            <a:ext cx="73152" cy="53035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77240" y="328269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利息保障倍數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328269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3x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858768"/>
            <a:ext cx="6949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548640" y="3858768"/>
            <a:ext cx="73152" cy="53035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77240" y="38587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FCF 股利覆蓋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38587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1x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6949440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73152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77240" y="44348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設質比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23360" y="44348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30% 紅字  ·  &gt; 50% 紅底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010912"/>
            <a:ext cx="6949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548640" y="5010912"/>
            <a:ext cx="73152" cy="530352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777240" y="50109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Beta (250D)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23360" y="50109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1.2（高系統性風險）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72400" y="1554480"/>
            <a:ext cx="3840480" cy="46634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7772400" y="1554480"/>
            <a:ext cx="3840480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8046720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Attention budget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Scan 紅點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再深挖</a:t>
            </a:r>
            <a:endParaRPr lang="en-US" sz="3200" dirty="0"/>
          </a:p>
        </p:txBody>
      </p:sp>
      <p:sp>
        <p:nvSpPr>
          <p:cNvPr id="41" name="Text 39"/>
          <p:cNvSpPr/>
          <p:nvPr/>
        </p:nvSpPr>
        <p:spPr>
          <a:xfrm>
            <a:off x="8046720" y="411480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把分析師的精力焦點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從「讀表」改成「看紅點」，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再決定要不要往下深挖。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S8 ·  PROOF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數字說話：2330 半導體 ／ 2412 電信 ／ 2886 金融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1920240" cy="86868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3003194" cy="86868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468880" y="1490472"/>
            <a:ext cx="30031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2330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1874520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半導體 · 成長型高品質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26938" y="1417320"/>
            <a:ext cx="3003194" cy="868680"/>
          </a:xfrm>
          <a:prstGeom prst="rect">
            <a:avLst/>
          </a:prstGeom>
          <a:solidFill>
            <a:srgbClr val="2E6A8E"/>
          </a:solidFill>
          <a:ln w="12700">
            <a:solidFill>
              <a:srgbClr val="2E6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526938" y="1490472"/>
            <a:ext cx="30031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2412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26938" y="1874520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電信 · 現金牛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84997" y="1417320"/>
            <a:ext cx="3003194" cy="868680"/>
          </a:xfrm>
          <a:prstGeom prst="rect">
            <a:avLst/>
          </a:prstGeom>
          <a:solidFill>
            <a:srgbClr val="8B2E2E"/>
          </a:solidFill>
          <a:ln w="12700">
            <a:solidFill>
              <a:srgbClr val="8B2E2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584997" y="1490472"/>
            <a:ext cx="30031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2886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84997" y="1874520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金融 · 公式不適用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34086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31520" y="23408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ROE (TTM)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68880" y="2340864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468880" y="2340864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35.39%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26938" y="2340864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526938" y="2340864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10.04%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584997" y="2340864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584997" y="2340864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9.26%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2926080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31520" y="29260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負債比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468880" y="2926080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2468880" y="292608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31.16%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526938" y="2926080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526938" y="292608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25.21%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8584997" y="2926080"/>
            <a:ext cx="3003194" cy="530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8584997" y="292608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92.32%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3511296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731520" y="351129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流動比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468880" y="3511296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2468880" y="3511296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2.62x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526938" y="3511296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526938" y="3511296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1.49x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584997" y="3511296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8584997" y="3511296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48.30x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48640" y="4096512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731520" y="409651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利息保障倍數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468880" y="4096512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2468880" y="4096512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103.2x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526938" y="4096512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5526938" y="4096512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136.7x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584997" y="4096512"/>
            <a:ext cx="3003194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8584997" y="4096512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548640" y="4681728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731520" y="468172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FCF 股利覆蓋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468880" y="4681728"/>
            <a:ext cx="300319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2468880" y="4681728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1.53x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5526938" y="4681728"/>
            <a:ext cx="3003194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5526938" y="4681728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584997" y="4681728"/>
            <a:ext cx="3003194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8"/>
          <p:cNvSpPr/>
          <p:nvPr/>
        </p:nvSpPr>
        <p:spPr>
          <a:xfrm>
            <a:off x="8584997" y="4681728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548640" y="5266944"/>
            <a:ext cx="1920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731520" y="52669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Beta 250D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2468880" y="5266944"/>
            <a:ext cx="3003194" cy="530352"/>
          </a:xfrm>
          <a:prstGeom prst="rect">
            <a:avLst/>
          </a:prstGeom>
          <a:solidFill>
            <a:srgbClr val="FFF7E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2"/>
          <p:cNvSpPr/>
          <p:nvPr/>
        </p:nvSpPr>
        <p:spPr>
          <a:xfrm>
            <a:off x="2468880" y="5266944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1.18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5526938" y="5266944"/>
            <a:ext cx="3003194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4"/>
          <p:cNvSpPr/>
          <p:nvPr/>
        </p:nvSpPr>
        <p:spPr>
          <a:xfrm>
            <a:off x="5526938" y="5266944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8584997" y="5266944"/>
            <a:ext cx="3003194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6"/>
          <p:cNvSpPr/>
          <p:nvPr/>
        </p:nvSpPr>
        <p:spPr>
          <a:xfrm>
            <a:off x="8584997" y="5266944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 68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Graceful degradation </a:t>
            </a: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  系統知道什麼時候該說「我不知道」。銀行業負債比本來就高、利息費用是營收；這不是 bug，是 feature。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7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S9 ·  INFRA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資料基礎設施｜乾淨模組化，邊際成本低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26568" y="1600200"/>
            <a:ext cx="2697480" cy="219456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26568" y="1600200"/>
            <a:ext cx="2697480" cy="9144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6568" y="1828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26568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張 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448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Dottdot API 個股級資料表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06928" y="1600200"/>
            <a:ext cx="2697480" cy="219456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306928" y="1600200"/>
            <a:ext cx="2697480" cy="9144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306928" y="1828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3306928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 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89808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每次查詢並行發射（Promise.allSettled）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7288" y="1600200"/>
            <a:ext cx="2697480" cy="219456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187288" y="1600200"/>
            <a:ext cx="2697480" cy="9144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187288" y="1828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6187288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大面向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70168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財報 × 行情 × 技術 × 籌碼 × 股利 × 治理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67648" y="1600200"/>
            <a:ext cx="2697480" cy="219456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9067648" y="1600200"/>
            <a:ext cx="2697480" cy="9144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9067648" y="18288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1+1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9067648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50528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新區塊＝ 1 fetcher + 1 render module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206240"/>
            <a:ext cx="11094415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109728" cy="1234440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103628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延伸新功能的邊際成本很低。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有新需求，通常一到兩天就能上線。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48640" y="56235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Dottdot API · 19 tables ·  covering 財報／行情／技術／籌碼／股利／治理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S10 · 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發展路線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36873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146017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55161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164305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1734495" y="457200"/>
            <a:ext cx="45720" cy="45720"/>
          </a:xfrm>
          <a:prstGeom prst="ellipse">
            <a:avLst/>
          </a:prstGeom>
          <a:solidFill>
            <a:srgbClr val="D4A857"/>
          </a:solidFill>
          <a:ln w="12700">
            <a:solidFill>
              <a:srgbClr val="D4A85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289408" y="1463040"/>
            <a:ext cx="3749040" cy="822960"/>
          </a:xfrm>
          <a:prstGeom prst="rect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18008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SHORT-TERM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8008" y="1856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 · 短期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9408" y="2286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518008" y="2468880"/>
            <a:ext cx="640080" cy="640080"/>
          </a:xfrm>
          <a:prstGeom prst="ellipse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1800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249528" y="24871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同業對比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8008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peer comparison：單檔 → 多檔同時看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8008" y="4160520"/>
            <a:ext cx="640080" cy="640080"/>
          </a:xfrm>
          <a:prstGeom prst="ellipse">
            <a:avLst/>
          </a:prstGeom>
          <a:solidFill>
            <a:srgbClr val="1E3A6F"/>
          </a:solidFill>
          <a:ln w="12700">
            <a:solidFill>
              <a:srgbClr val="1E3A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18008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49528" y="4178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事件通知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18008" y="48920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除息日、財報日、治理變動日曆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21328" y="1463040"/>
            <a:ext cx="3749040" cy="822960"/>
          </a:xfrm>
          <a:prstGeom prst="rect">
            <a:avLst/>
          </a:prstGeom>
          <a:solidFill>
            <a:srgbClr val="2E6A8E"/>
          </a:solidFill>
          <a:ln w="12700">
            <a:solidFill>
              <a:srgbClr val="2E6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449928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MID-TERM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49928" y="1856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Q3 – Q4 · 中期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221328" y="2286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4449928" y="2468880"/>
            <a:ext cx="640080" cy="640080"/>
          </a:xfrm>
          <a:prstGeom prst="ellipse">
            <a:avLst/>
          </a:prstGeom>
          <a:solidFill>
            <a:srgbClr val="2E6A8E"/>
          </a:solidFill>
          <a:ln w="12700">
            <a:solidFill>
              <a:srgbClr val="2E6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44992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181448" y="24871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投資組合級視圖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449928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portfolio-level rollup，跨標的彙總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49928" y="4160520"/>
            <a:ext cx="640080" cy="640080"/>
          </a:xfrm>
          <a:prstGeom prst="ellipse">
            <a:avLst/>
          </a:prstGeom>
          <a:solidFill>
            <a:srgbClr val="2E6A8E"/>
          </a:solidFill>
          <a:ln w="12700">
            <a:solidFill>
              <a:srgbClr val="2E6A8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449928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181448" y="4178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權限分級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449928" y="48920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個人觀察清單 vs. 投委會共享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53248" y="1463040"/>
            <a:ext cx="3749040" cy="822960"/>
          </a:xfrm>
          <a:prstGeom prst="rect">
            <a:avLst/>
          </a:prstGeom>
          <a:solidFill>
            <a:srgbClr val="7A5B2F"/>
          </a:solidFill>
          <a:ln w="12700">
            <a:solidFill>
              <a:srgbClr val="7A5B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8381848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LONG-TERM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81848" y="18562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2027+ · 長期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153248" y="228600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8381848" y="2468880"/>
            <a:ext cx="640080" cy="640080"/>
          </a:xfrm>
          <a:prstGeom prst="ellipse">
            <a:avLst/>
          </a:prstGeom>
          <a:solidFill>
            <a:srgbClr val="7A5B2F"/>
          </a:solidFill>
          <a:ln w="12700">
            <a:solidFill>
              <a:srgbClr val="7A5B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8381848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113368" y="248716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標的篩選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381848" y="3200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以現有比率儀表板為基石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81848" y="4160520"/>
            <a:ext cx="640080" cy="640080"/>
          </a:xfrm>
          <a:prstGeom prst="ellipse">
            <a:avLst/>
          </a:prstGeom>
          <a:solidFill>
            <a:srgbClr val="7A5B2F"/>
          </a:solidFill>
          <a:ln w="12700">
            <a:solidFill>
              <a:srgbClr val="7A5B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8381848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4A85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9113368" y="4178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產業輪動儀表板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381848" y="489204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從個股視角擴張到板塊動能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 w="12700">
            <a:solidFill>
              <a:srgbClr val="0A18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壽險投資部｜個股儀表板簡報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094415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A9946A-1247-A144-B2D8-723C200CFC6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a671cc8-e1b0-450b-adef-00c31ebf186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714</Words>
  <Application>Microsoft Macintosh PowerPoint</Application>
  <PresentationFormat>寬螢幕</PresentationFormat>
  <Paragraphs>228</Paragraphs>
  <Slides>11</Slides>
  <Notes>10</Notes>
  <HiddenSlides>6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壽險投資部一頁式股儀表板</dc:title>
  <dc:subject>PptxGenJS Presentation</dc:subject>
  <dc:creator>量化研究組</dc:creator>
  <cp:lastModifiedBy>孫佑嘉</cp:lastModifiedBy>
  <cp:revision>7</cp:revision>
  <dcterms:created xsi:type="dcterms:W3CDTF">2026-04-15T05:56:38Z</dcterms:created>
  <dcterms:modified xsi:type="dcterms:W3CDTF">2026-04-15T06:49:30Z</dcterms:modified>
</cp:coreProperties>
</file>